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062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926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5214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738360" y="-1280160"/>
            <a:ext cx="3657600" cy="3657600"/>
          </a:xfrm>
          <a:prstGeom prst="arc">
            <a:avLst/>
          </a:prstGeom>
          <a:noFill/>
          <a:ln w="15240">
            <a:solidFill>
              <a:srgbClr val="C7FF1A">
                <a:alpha val="7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-1645920" y="5257800"/>
            <a:ext cx="3108960" cy="3108960"/>
          </a:xfrm>
          <a:prstGeom prst="arc">
            <a:avLst/>
          </a:prstGeom>
          <a:noFill/>
          <a:ln w="12700">
            <a:solidFill>
              <a:srgbClr val="FFE500">
                <a:alpha val="5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01568" y="530352"/>
            <a:ext cx="5394960" cy="292608"/>
          </a:xfrm>
          <a:prstGeom prst="roundRect">
            <a:avLst>
              <a:gd name="adj" fmla="val 21875"/>
            </a:avLst>
          </a:prstGeom>
          <a:solidFill>
            <a:srgbClr val="111711"/>
          </a:solidFill>
          <a:ln w="12700">
            <a:solidFill>
              <a:srgbClr val="FFE5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01568" y="585216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FFE5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IQOO HACKATHON 2026 | PUNE CITY BATTLE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914400" y="1572768"/>
            <a:ext cx="10424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BUG</a:t>
            </a:r>
            <a:endParaRPr lang="en-US" sz="6400" dirty="0"/>
          </a:p>
        </p:txBody>
      </p:sp>
      <p:sp>
        <p:nvSpPr>
          <p:cNvPr id="22" name="Text 20"/>
          <p:cNvSpPr/>
          <p:nvPr/>
        </p:nvSpPr>
        <p:spPr>
          <a:xfrm>
            <a:off x="914400" y="2340864"/>
            <a:ext cx="10424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7FF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WHISPERER</a:t>
            </a:r>
            <a:endParaRPr lang="en-US" sz="6400" dirty="0"/>
          </a:p>
        </p:txBody>
      </p:sp>
      <p:sp>
        <p:nvSpPr>
          <p:cNvPr id="23" name="Text 21"/>
          <p:cNvSpPr/>
          <p:nvPr/>
        </p:nvSpPr>
        <p:spPr>
          <a:xfrm>
            <a:off x="0" y="32461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A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Debugging Detective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480560" y="3822192"/>
            <a:ext cx="3246120" cy="0"/>
          </a:xfrm>
          <a:prstGeom prst="line">
            <a:avLst/>
          </a:prstGeom>
          <a:noFill/>
          <a:ln w="15240">
            <a:solidFill>
              <a:srgbClr val="34403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37360" y="4096512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AB4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"This isn't code review. It's investigation."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965960" y="4700016"/>
            <a:ext cx="8275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AAB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Paste a stack trace and a repo link. Bug Whisperer investigates the whole codebase, traces the causal chain, names the root cause, and hands you the fix.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3063240" y="5705856"/>
            <a:ext cx="6080760" cy="292608"/>
          </a:xfrm>
          <a:prstGeom prst="roundRect">
            <a:avLst>
              <a:gd name="adj" fmla="val 21875"/>
            </a:avLst>
          </a:prstGeom>
          <a:solidFill>
            <a:srgbClr val="111711"/>
          </a:solidFill>
          <a:ln w="12700">
            <a:solidFill>
              <a:srgbClr val="C7FF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63240" y="5760720"/>
            <a:ext cx="6080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C7FF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 TOOLS TRACK | PHONE-FIRST PWA | GROQ + GITHUB API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062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926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5214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738360" y="-1280160"/>
            <a:ext cx="3657600" cy="3657600"/>
          </a:xfrm>
          <a:prstGeom prst="arc">
            <a:avLst/>
          </a:prstGeom>
          <a:noFill/>
          <a:ln w="15240">
            <a:solidFill>
              <a:srgbClr val="C7FF1A">
                <a:alpha val="7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-1645920" y="5257800"/>
            <a:ext cx="3108960" cy="3108960"/>
          </a:xfrm>
          <a:prstGeom prst="arc">
            <a:avLst/>
          </a:prstGeom>
          <a:noFill/>
          <a:ln w="12700">
            <a:solidFill>
              <a:srgbClr val="FFE500">
                <a:alpha val="58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4747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C7FF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0352" y="713232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Debugging still wastes the best engineering hours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530352" y="129844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AAB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 traces show symptoms. Developers still have to reconstruct the story.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30352" y="2020824"/>
            <a:ext cx="82296" cy="82296"/>
          </a:xfrm>
          <a:prstGeom prst="ellipse">
            <a:avLst/>
          </a:prstGeom>
          <a:solidFill>
            <a:srgbClr val="C7FF1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1920240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A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 traces reference 5-10 files across a codebase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30352" y="2523744"/>
            <a:ext cx="82296" cy="82296"/>
          </a:xfrm>
          <a:prstGeom prst="ellipse">
            <a:avLst/>
          </a:prstGeom>
          <a:solidFill>
            <a:srgbClr val="C7FF1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2423160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A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file that throws the error is often not the root cause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30352" y="3026664"/>
            <a:ext cx="82296" cy="82296"/>
          </a:xfrm>
          <a:prstGeom prst="ellipse">
            <a:avLst/>
          </a:prstGeom>
          <a:solidFill>
            <a:srgbClr val="C7FF1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2926080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A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Junior developers get stuck on causal chains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30352" y="3529584"/>
            <a:ext cx="82296" cy="82296"/>
          </a:xfrm>
          <a:prstGeom prst="ellipse">
            <a:avLst/>
          </a:prstGeom>
          <a:solidFill>
            <a:srgbClr val="C7FF1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3429000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A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Senior engineers lose focus time in repetitive triage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30352" y="4032504"/>
            <a:ext cx="82296" cy="82296"/>
          </a:xfrm>
          <a:prstGeom prst="ellipse">
            <a:avLst/>
          </a:prstGeom>
          <a:solidFill>
            <a:srgbClr val="C7FF1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3931920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A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AI tools commonly reason over one pasted file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360920" y="1600200"/>
            <a:ext cx="4251960" cy="4389120"/>
          </a:xfrm>
          <a:prstGeom prst="roundRect">
            <a:avLst>
              <a:gd name="adj" fmla="val 1720"/>
            </a:avLst>
          </a:prstGeom>
          <a:solidFill>
            <a:srgbClr val="111711"/>
          </a:solidFill>
          <a:ln w="12700">
            <a:solidFill>
              <a:srgbClr val="C7FF1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680960" y="187452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FFE500"/>
                </a:solidFill>
              </a:rPr>
              <a:t>WHY IT MATTERS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680960" y="23317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C7FF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 hrs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7680960" y="286207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AB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debugging per developer per week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680960" y="34747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E5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35%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7680960" y="400507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AB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 development time spent debugging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680960" y="46177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C7FF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$100+/hr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7680960" y="514807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AB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potential cost of critical downtime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30352" y="64465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5F6B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WHISPERER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1140135" y="64282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062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926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5214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738360" y="-1280160"/>
            <a:ext cx="3657600" cy="3657600"/>
          </a:xfrm>
          <a:prstGeom prst="arc">
            <a:avLst/>
          </a:prstGeom>
          <a:noFill/>
          <a:ln w="15240">
            <a:solidFill>
              <a:srgbClr val="C7FF1A">
                <a:alpha val="7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-1645920" y="5257800"/>
            <a:ext cx="3108960" cy="3108960"/>
          </a:xfrm>
          <a:prstGeom prst="arc">
            <a:avLst/>
          </a:prstGeom>
          <a:noFill/>
          <a:ln w="12700">
            <a:solidFill>
              <a:srgbClr val="FFE500">
                <a:alpha val="58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4747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C7FF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SOLUTION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0352" y="713232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debugging detective for the whole repo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530352" y="129844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AAB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stack trace to root cause, with evidence the team can inspect.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30352" y="1755648"/>
            <a:ext cx="11130991" cy="1143000"/>
          </a:xfrm>
          <a:prstGeom prst="roundRect">
            <a:avLst>
              <a:gd name="adj" fmla="val 6400"/>
            </a:avLst>
          </a:prstGeom>
          <a:solidFill>
            <a:srgbClr val="111711"/>
          </a:solidFill>
          <a:ln w="12700">
            <a:solidFill>
              <a:srgbClr val="C7FF1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68680" y="198424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7FF1A"/>
                </a:solidFill>
              </a:rPr>
              <a:t>ONE-LINER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057400" y="1865376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AF2E7"/>
                </a:solidFill>
              </a:rPr>
              <a:t>Paste a stack trace and GitHub repo URL. Bug Whisperer fetches relevant files, reconstructs the chain, labels evidence, and proposes a fix with confidence.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30352" y="3291840"/>
            <a:ext cx="5257800" cy="2331720"/>
          </a:xfrm>
          <a:prstGeom prst="roundRect">
            <a:avLst>
              <a:gd name="adj" fmla="val 3137"/>
            </a:avLst>
          </a:prstGeom>
          <a:solidFill>
            <a:srgbClr val="182018"/>
          </a:solidFill>
          <a:ln w="12700">
            <a:solidFill>
              <a:srgbClr val="34403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55080" y="3291840"/>
            <a:ext cx="5257800" cy="2331720"/>
          </a:xfrm>
          <a:prstGeom prst="roundRect">
            <a:avLst>
              <a:gd name="adj" fmla="val 3137"/>
            </a:avLst>
          </a:prstGeom>
          <a:solidFill>
            <a:srgbClr val="111711"/>
          </a:solidFill>
          <a:ln w="12700">
            <a:solidFill>
              <a:srgbClr val="C7FF1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86384" y="356616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79287"/>
                </a:solidFill>
              </a:rPr>
              <a:t>TRADITIONAL AI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11112" y="356616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C7FF1A"/>
                </a:solidFill>
              </a:rPr>
              <a:t>BUG WHISPERER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50392" y="4105656"/>
            <a:ext cx="82296" cy="82296"/>
          </a:xfrm>
          <a:prstGeom prst="ellipse">
            <a:avLst/>
          </a:prstGeom>
          <a:solidFill>
            <a:srgbClr val="87928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1560" y="400507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EA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file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6675120" y="4105656"/>
            <a:ext cx="82296" cy="82296"/>
          </a:xfrm>
          <a:prstGeom prst="ellipse">
            <a:avLst/>
          </a:prstGeom>
          <a:solidFill>
            <a:srgbClr val="C7FF1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76288" y="400507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EA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Whole codebase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850392" y="4498848"/>
            <a:ext cx="82296" cy="82296"/>
          </a:xfrm>
          <a:prstGeom prst="ellipse">
            <a:avLst/>
          </a:prstGeom>
          <a:solidFill>
            <a:srgbClr val="87928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439826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EA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location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6675120" y="4498848"/>
            <a:ext cx="82296" cy="82296"/>
          </a:xfrm>
          <a:prstGeom prst="ellipse">
            <a:avLst/>
          </a:prstGeom>
          <a:solidFill>
            <a:srgbClr val="C7FF1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76288" y="439826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EA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True root cause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850392" y="4892040"/>
            <a:ext cx="82296" cy="82296"/>
          </a:xfrm>
          <a:prstGeom prst="ellipse">
            <a:avLst/>
          </a:prstGeom>
          <a:solidFill>
            <a:srgbClr val="87928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51560" y="4791456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EA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Plain text answer</a:t>
            </a:r>
            <a:endParaRPr lang="en-US" sz="1080" dirty="0"/>
          </a:p>
        </p:txBody>
      </p:sp>
      <p:sp>
        <p:nvSpPr>
          <p:cNvPr id="39" name="Shape 37"/>
          <p:cNvSpPr/>
          <p:nvPr/>
        </p:nvSpPr>
        <p:spPr>
          <a:xfrm>
            <a:off x="6675120" y="4892040"/>
            <a:ext cx="82296" cy="82296"/>
          </a:xfrm>
          <a:prstGeom prst="ellipse">
            <a:avLst/>
          </a:prstGeom>
          <a:solidFill>
            <a:srgbClr val="C7FF1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76288" y="4791456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EA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case board</a:t>
            </a:r>
            <a:endParaRPr lang="en-US" sz="1080" dirty="0"/>
          </a:p>
        </p:txBody>
      </p:sp>
      <p:sp>
        <p:nvSpPr>
          <p:cNvPr id="41" name="Shape 39"/>
          <p:cNvSpPr/>
          <p:nvPr/>
        </p:nvSpPr>
        <p:spPr>
          <a:xfrm>
            <a:off x="850392" y="5285232"/>
            <a:ext cx="82296" cy="82296"/>
          </a:xfrm>
          <a:prstGeom prst="ellipse">
            <a:avLst/>
          </a:prstGeom>
          <a:solidFill>
            <a:srgbClr val="87928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51560" y="518464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EA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Generic advice</a:t>
            </a:r>
            <a:endParaRPr lang="en-US" sz="1080" dirty="0"/>
          </a:p>
        </p:txBody>
      </p:sp>
      <p:sp>
        <p:nvSpPr>
          <p:cNvPr id="43" name="Shape 41"/>
          <p:cNvSpPr/>
          <p:nvPr/>
        </p:nvSpPr>
        <p:spPr>
          <a:xfrm>
            <a:off x="6675120" y="5285232"/>
            <a:ext cx="82296" cy="82296"/>
          </a:xfrm>
          <a:prstGeom prst="ellipse">
            <a:avLst/>
          </a:prstGeom>
          <a:solidFill>
            <a:srgbClr val="C7FF1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76288" y="518464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EA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Evidence-linked fix</a:t>
            </a:r>
            <a:endParaRPr lang="en-US" sz="1080" dirty="0"/>
          </a:p>
        </p:txBody>
      </p:sp>
      <p:sp>
        <p:nvSpPr>
          <p:cNvPr id="45" name="Text 43"/>
          <p:cNvSpPr/>
          <p:nvPr/>
        </p:nvSpPr>
        <p:spPr>
          <a:xfrm>
            <a:off x="530352" y="64465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5F6B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WHISPERER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11140135" y="64282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062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926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5214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738360" y="-1280160"/>
            <a:ext cx="3657600" cy="3657600"/>
          </a:xfrm>
          <a:prstGeom prst="arc">
            <a:avLst/>
          </a:prstGeom>
          <a:noFill/>
          <a:ln w="15240">
            <a:solidFill>
              <a:srgbClr val="C7FF1A">
                <a:alpha val="7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-1645920" y="5257800"/>
            <a:ext cx="3108960" cy="3108960"/>
          </a:xfrm>
          <a:prstGeom prst="arc">
            <a:avLst/>
          </a:prstGeom>
          <a:noFill/>
          <a:ln w="12700">
            <a:solidFill>
              <a:srgbClr val="FFE500">
                <a:alpha val="58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4747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C7FF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0352" y="713232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investigation pipeline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530352" y="129844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AAB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steps designed for fast demo, real code, and visible reasoning.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30352" y="1874520"/>
            <a:ext cx="2084832" cy="3127248"/>
          </a:xfrm>
          <a:prstGeom prst="roundRect">
            <a:avLst>
              <a:gd name="adj" fmla="val 3509"/>
            </a:avLst>
          </a:prstGeom>
          <a:solidFill>
            <a:srgbClr val="182018"/>
          </a:solidFill>
          <a:ln w="12700">
            <a:solidFill>
              <a:srgbClr val="34403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94944" y="208483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7FF1A"/>
                </a:solidFill>
              </a:rPr>
              <a:t>01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4944" y="2743200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40" kern="0" dirty="0">
                <a:solidFill>
                  <a:srgbClr val="FFE500"/>
                </a:solidFill>
              </a:rPr>
              <a:t>INPUT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49808" y="3273552"/>
            <a:ext cx="1645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AAB4AA"/>
                </a:solidFill>
              </a:rPr>
              <a:t>Repo URL + stack trace, or phone camera capture</a:t>
            </a:r>
            <a:endParaRPr lang="en-US" sz="1010" dirty="0"/>
          </a:p>
        </p:txBody>
      </p:sp>
      <p:sp>
        <p:nvSpPr>
          <p:cNvPr id="26" name="Shape 24"/>
          <p:cNvSpPr/>
          <p:nvPr/>
        </p:nvSpPr>
        <p:spPr>
          <a:xfrm rot="5400000">
            <a:off x="2688336" y="3182112"/>
            <a:ext cx="201168" cy="201168"/>
          </a:xfrm>
          <a:prstGeom prst="triangle">
            <a:avLst/>
          </a:prstGeom>
          <a:solidFill>
            <a:srgbClr val="C7FF1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16352" y="1874520"/>
            <a:ext cx="2084832" cy="3127248"/>
          </a:xfrm>
          <a:prstGeom prst="roundRect">
            <a:avLst>
              <a:gd name="adj" fmla="val 3509"/>
            </a:avLst>
          </a:prstGeom>
          <a:solidFill>
            <a:srgbClr val="111711"/>
          </a:solidFill>
          <a:ln w="12700">
            <a:solidFill>
              <a:srgbClr val="34403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980944" y="208483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7FF1A"/>
                </a:solidFill>
              </a:rPr>
              <a:t>02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2980944" y="2743200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40" kern="0" dirty="0">
                <a:solidFill>
                  <a:srgbClr val="FFE500"/>
                </a:solidFill>
              </a:rPr>
              <a:t>PARSE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035808" y="3273552"/>
            <a:ext cx="1645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AAB4AA"/>
                </a:solidFill>
              </a:rPr>
              <a:t>Extract file, line, function, and language clues</a:t>
            </a:r>
            <a:endParaRPr lang="en-US" sz="1010" dirty="0"/>
          </a:p>
        </p:txBody>
      </p:sp>
      <p:sp>
        <p:nvSpPr>
          <p:cNvPr id="31" name="Shape 29"/>
          <p:cNvSpPr/>
          <p:nvPr/>
        </p:nvSpPr>
        <p:spPr>
          <a:xfrm rot="5400000">
            <a:off x="4974336" y="3182112"/>
            <a:ext cx="201168" cy="201168"/>
          </a:xfrm>
          <a:prstGeom prst="triangle">
            <a:avLst/>
          </a:prstGeom>
          <a:solidFill>
            <a:srgbClr val="C7FF1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02352" y="1874520"/>
            <a:ext cx="2084832" cy="3127248"/>
          </a:xfrm>
          <a:prstGeom prst="roundRect">
            <a:avLst>
              <a:gd name="adj" fmla="val 3509"/>
            </a:avLst>
          </a:prstGeom>
          <a:solidFill>
            <a:srgbClr val="182018"/>
          </a:solidFill>
          <a:ln w="12700">
            <a:solidFill>
              <a:srgbClr val="34403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266944" y="208483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7FF1A"/>
                </a:solidFill>
              </a:rPr>
              <a:t>03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266944" y="2743200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40" kern="0" dirty="0">
                <a:solidFill>
                  <a:srgbClr val="FFE500"/>
                </a:solidFill>
              </a:rPr>
              <a:t>FETCH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321808" y="3273552"/>
            <a:ext cx="1645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AAB4AA"/>
                </a:solidFill>
              </a:rPr>
              <a:t>Pull referenced files through GitHub REST API</a:t>
            </a:r>
            <a:endParaRPr lang="en-US" sz="1010" dirty="0"/>
          </a:p>
        </p:txBody>
      </p:sp>
      <p:sp>
        <p:nvSpPr>
          <p:cNvPr id="36" name="Shape 34"/>
          <p:cNvSpPr/>
          <p:nvPr/>
        </p:nvSpPr>
        <p:spPr>
          <a:xfrm rot="5400000">
            <a:off x="7260336" y="3182112"/>
            <a:ext cx="201168" cy="201168"/>
          </a:xfrm>
          <a:prstGeom prst="triangle">
            <a:avLst/>
          </a:prstGeom>
          <a:solidFill>
            <a:srgbClr val="C7FF1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88352" y="1874520"/>
            <a:ext cx="2084832" cy="3127248"/>
          </a:xfrm>
          <a:prstGeom prst="roundRect">
            <a:avLst>
              <a:gd name="adj" fmla="val 3509"/>
            </a:avLst>
          </a:prstGeom>
          <a:solidFill>
            <a:srgbClr val="111711"/>
          </a:solidFill>
          <a:ln w="12700">
            <a:solidFill>
              <a:srgbClr val="34403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552944" y="208483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7FF1A"/>
                </a:solidFill>
              </a:rPr>
              <a:t>04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552944" y="2743200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40" kern="0" dirty="0">
                <a:solidFill>
                  <a:srgbClr val="FFE500"/>
                </a:solidFill>
              </a:rPr>
              <a:t>ANALYZE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607808" y="3273552"/>
            <a:ext cx="1645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AAB4AA"/>
                </a:solidFill>
              </a:rPr>
              <a:t>Groq Llama 3.3 reasons over trace + code</a:t>
            </a:r>
            <a:endParaRPr lang="en-US" sz="1010" dirty="0"/>
          </a:p>
        </p:txBody>
      </p:sp>
      <p:sp>
        <p:nvSpPr>
          <p:cNvPr id="41" name="Shape 39"/>
          <p:cNvSpPr/>
          <p:nvPr/>
        </p:nvSpPr>
        <p:spPr>
          <a:xfrm rot="5400000">
            <a:off x="9546336" y="3182112"/>
            <a:ext cx="201168" cy="201168"/>
          </a:xfrm>
          <a:prstGeom prst="triangle">
            <a:avLst/>
          </a:prstGeom>
          <a:solidFill>
            <a:srgbClr val="C7FF1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674352" y="1874520"/>
            <a:ext cx="2084832" cy="3127248"/>
          </a:xfrm>
          <a:prstGeom prst="roundRect">
            <a:avLst>
              <a:gd name="adj" fmla="val 3509"/>
            </a:avLst>
          </a:prstGeom>
          <a:solidFill>
            <a:srgbClr val="182018"/>
          </a:solidFill>
          <a:ln w="12700">
            <a:solidFill>
              <a:srgbClr val="C7FF1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9838944" y="208483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7FF1A"/>
                </a:solidFill>
              </a:rPr>
              <a:t>05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9838944" y="2743200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40" kern="0" dirty="0">
                <a:solidFill>
                  <a:srgbClr val="FFE500"/>
                </a:solidFill>
              </a:rPr>
              <a:t>PRESENT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9893808" y="3273552"/>
            <a:ext cx="1645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AAB4AA"/>
                </a:solidFill>
              </a:rPr>
              <a:t>Case board, confidence, and copyable fix</a:t>
            </a:r>
            <a:endParaRPr lang="en-US" sz="1010" dirty="0"/>
          </a:p>
        </p:txBody>
      </p:sp>
      <p:sp>
        <p:nvSpPr>
          <p:cNvPr id="46" name="Text 44"/>
          <p:cNvSpPr/>
          <p:nvPr/>
        </p:nvSpPr>
        <p:spPr>
          <a:xfrm>
            <a:off x="530352" y="64465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5F6B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WHISPERER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11140135" y="64282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062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926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5214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738360" y="-1280160"/>
            <a:ext cx="3657600" cy="3657600"/>
          </a:xfrm>
          <a:prstGeom prst="arc">
            <a:avLst/>
          </a:prstGeom>
          <a:noFill/>
          <a:ln w="15240">
            <a:solidFill>
              <a:srgbClr val="C7FF1A">
                <a:alpha val="7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-1645920" y="5257800"/>
            <a:ext cx="3108960" cy="3108960"/>
          </a:xfrm>
          <a:prstGeom prst="arc">
            <a:avLst/>
          </a:prstGeom>
          <a:noFill/>
          <a:ln w="12700">
            <a:solidFill>
              <a:srgbClr val="FFE500">
                <a:alpha val="58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4747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C7FF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SET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0352" y="713232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Fifteen features, one investigation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530352" y="129844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AAB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AI depth plus phone-first execution for the hackathon format.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30352" y="1737360"/>
            <a:ext cx="3502152" cy="4343400"/>
          </a:xfrm>
          <a:prstGeom prst="roundRect">
            <a:avLst>
              <a:gd name="adj" fmla="val 2089"/>
            </a:avLst>
          </a:prstGeom>
          <a:solidFill>
            <a:srgbClr val="111711"/>
          </a:solidFill>
          <a:ln w="12700">
            <a:solidFill>
              <a:srgbClr val="C7FF1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4672" y="2029968"/>
            <a:ext cx="1554480" cy="292608"/>
          </a:xfrm>
          <a:prstGeom prst="roundRect">
            <a:avLst>
              <a:gd name="adj" fmla="val 21875"/>
            </a:avLst>
          </a:prstGeom>
          <a:solidFill>
            <a:srgbClr val="111711"/>
          </a:solidFill>
          <a:ln w="12700">
            <a:solidFill>
              <a:srgbClr val="C7FF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208483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C7FF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59536" y="2734056"/>
            <a:ext cx="82296" cy="82296"/>
          </a:xfrm>
          <a:prstGeom prst="ellipse">
            <a:avLst/>
          </a:prstGeom>
          <a:solidFill>
            <a:srgbClr val="C7FF1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0704" y="263347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EA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Multi-file analysis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859536" y="3328416"/>
            <a:ext cx="82296" cy="82296"/>
          </a:xfrm>
          <a:prstGeom prst="ellipse">
            <a:avLst/>
          </a:prstGeom>
          <a:solidFill>
            <a:srgbClr val="C7FF1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0704" y="322783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EA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Root cause detection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859536" y="3922776"/>
            <a:ext cx="82296" cy="82296"/>
          </a:xfrm>
          <a:prstGeom prst="ellipse">
            <a:avLst/>
          </a:prstGeom>
          <a:solidFill>
            <a:srgbClr val="C7FF1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0704" y="382219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EA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classification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859536" y="4517136"/>
            <a:ext cx="82296" cy="82296"/>
          </a:xfrm>
          <a:prstGeom prst="ellipse">
            <a:avLst/>
          </a:prstGeom>
          <a:solidFill>
            <a:srgbClr val="C7FF1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60704" y="441655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EA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 rating</a:t>
            </a:r>
            <a:endParaRPr lang="en-US" sz="1120" dirty="0"/>
          </a:p>
        </p:txBody>
      </p:sp>
      <p:sp>
        <p:nvSpPr>
          <p:cNvPr id="33" name="Shape 31"/>
          <p:cNvSpPr/>
          <p:nvPr/>
        </p:nvSpPr>
        <p:spPr>
          <a:xfrm>
            <a:off x="859536" y="5111496"/>
            <a:ext cx="82296" cy="82296"/>
          </a:xfrm>
          <a:prstGeom prst="ellipse">
            <a:avLst/>
          </a:prstGeom>
          <a:solidFill>
            <a:srgbClr val="C7FF1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60704" y="501091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EA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Copy-to-clipboard fix</a:t>
            </a:r>
            <a:endParaRPr lang="en-US" sz="1120" dirty="0"/>
          </a:p>
        </p:txBody>
      </p:sp>
      <p:sp>
        <p:nvSpPr>
          <p:cNvPr id="35" name="Shape 33"/>
          <p:cNvSpPr/>
          <p:nvPr/>
        </p:nvSpPr>
        <p:spPr>
          <a:xfrm>
            <a:off x="4343400" y="1737360"/>
            <a:ext cx="3502152" cy="4343400"/>
          </a:xfrm>
          <a:prstGeom prst="roundRect">
            <a:avLst>
              <a:gd name="adj" fmla="val 2089"/>
            </a:avLst>
          </a:prstGeom>
          <a:solidFill>
            <a:srgbClr val="182018"/>
          </a:solidFill>
          <a:ln w="12700">
            <a:solidFill>
              <a:srgbClr val="FFE50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17720" y="2029968"/>
            <a:ext cx="1554480" cy="292608"/>
          </a:xfrm>
          <a:prstGeom prst="roundRect">
            <a:avLst>
              <a:gd name="adj" fmla="val 21875"/>
            </a:avLst>
          </a:prstGeom>
          <a:solidFill>
            <a:srgbClr val="111711"/>
          </a:solidFill>
          <a:ln w="12700">
            <a:solidFill>
              <a:srgbClr val="FFE5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17720" y="208483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FFE5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PHONE-FIRST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672584" y="2734056"/>
            <a:ext cx="82296" cy="82296"/>
          </a:xfrm>
          <a:prstGeom prst="ellipse">
            <a:avLst/>
          </a:prstGeom>
          <a:solidFill>
            <a:srgbClr val="FFE5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73752" y="263347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EA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Camera input</a:t>
            </a:r>
            <a:endParaRPr lang="en-US" sz="1120" dirty="0"/>
          </a:p>
        </p:txBody>
      </p:sp>
      <p:sp>
        <p:nvSpPr>
          <p:cNvPr id="40" name="Shape 38"/>
          <p:cNvSpPr/>
          <p:nvPr/>
        </p:nvSpPr>
        <p:spPr>
          <a:xfrm>
            <a:off x="4672584" y="3328416"/>
            <a:ext cx="82296" cy="82296"/>
          </a:xfrm>
          <a:prstGeom prst="ellipse">
            <a:avLst/>
          </a:prstGeom>
          <a:solidFill>
            <a:srgbClr val="FFE5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73752" y="322783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EA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PWA installable</a:t>
            </a:r>
            <a:endParaRPr lang="en-US" sz="1120" dirty="0"/>
          </a:p>
        </p:txBody>
      </p:sp>
      <p:sp>
        <p:nvSpPr>
          <p:cNvPr id="42" name="Shape 40"/>
          <p:cNvSpPr/>
          <p:nvPr/>
        </p:nvSpPr>
        <p:spPr>
          <a:xfrm>
            <a:off x="4672584" y="3922776"/>
            <a:ext cx="82296" cy="82296"/>
          </a:xfrm>
          <a:prstGeom prst="ellipse">
            <a:avLst/>
          </a:prstGeom>
          <a:solidFill>
            <a:srgbClr val="FFE5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73752" y="382219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EA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 shell</a:t>
            </a:r>
            <a:endParaRPr lang="en-US" sz="1120" dirty="0"/>
          </a:p>
        </p:txBody>
      </p:sp>
      <p:sp>
        <p:nvSpPr>
          <p:cNvPr id="44" name="Shape 42"/>
          <p:cNvSpPr/>
          <p:nvPr/>
        </p:nvSpPr>
        <p:spPr>
          <a:xfrm>
            <a:off x="4672584" y="4517136"/>
            <a:ext cx="82296" cy="82296"/>
          </a:xfrm>
          <a:prstGeom prst="ellipse">
            <a:avLst/>
          </a:prstGeom>
          <a:solidFill>
            <a:srgbClr val="FFE5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73752" y="441655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EA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Share API</a:t>
            </a:r>
            <a:endParaRPr lang="en-US" sz="1120" dirty="0"/>
          </a:p>
        </p:txBody>
      </p:sp>
      <p:sp>
        <p:nvSpPr>
          <p:cNvPr id="46" name="Shape 44"/>
          <p:cNvSpPr/>
          <p:nvPr/>
        </p:nvSpPr>
        <p:spPr>
          <a:xfrm>
            <a:off x="4672584" y="5111496"/>
            <a:ext cx="82296" cy="82296"/>
          </a:xfrm>
          <a:prstGeom prst="ellipse">
            <a:avLst/>
          </a:prstGeom>
          <a:solidFill>
            <a:srgbClr val="FFE5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73752" y="501091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EA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Haptic feedback</a:t>
            </a:r>
            <a:endParaRPr lang="en-US" sz="1120" dirty="0"/>
          </a:p>
        </p:txBody>
      </p:sp>
      <p:sp>
        <p:nvSpPr>
          <p:cNvPr id="48" name="Shape 46"/>
          <p:cNvSpPr/>
          <p:nvPr/>
        </p:nvSpPr>
        <p:spPr>
          <a:xfrm>
            <a:off x="8156448" y="1737360"/>
            <a:ext cx="3502152" cy="4343400"/>
          </a:xfrm>
          <a:prstGeom prst="roundRect">
            <a:avLst>
              <a:gd name="adj" fmla="val 2089"/>
            </a:avLst>
          </a:prstGeom>
          <a:solidFill>
            <a:srgbClr val="182018"/>
          </a:solidFill>
          <a:ln w="12700">
            <a:solidFill>
              <a:srgbClr val="65B7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8430768" y="2029968"/>
            <a:ext cx="1554480" cy="292608"/>
          </a:xfrm>
          <a:prstGeom prst="roundRect">
            <a:avLst>
              <a:gd name="adj" fmla="val 21875"/>
            </a:avLst>
          </a:prstGeom>
          <a:solidFill>
            <a:srgbClr val="111711"/>
          </a:solidFill>
          <a:ln w="12700">
            <a:solidFill>
              <a:srgbClr val="65B7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30768" y="208483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65B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UX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8485632" y="2734056"/>
            <a:ext cx="82296" cy="82296"/>
          </a:xfrm>
          <a:prstGeom prst="ellipse">
            <a:avLst/>
          </a:prstGeom>
          <a:solidFill>
            <a:srgbClr val="65B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686800" y="263347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EA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Detective case board</a:t>
            </a:r>
            <a:endParaRPr lang="en-US" sz="1120" dirty="0"/>
          </a:p>
        </p:txBody>
      </p:sp>
      <p:sp>
        <p:nvSpPr>
          <p:cNvPr id="53" name="Shape 51"/>
          <p:cNvSpPr/>
          <p:nvPr/>
        </p:nvSpPr>
        <p:spPr>
          <a:xfrm>
            <a:off x="8485632" y="3328416"/>
            <a:ext cx="82296" cy="82296"/>
          </a:xfrm>
          <a:prstGeom prst="ellipse">
            <a:avLst/>
          </a:prstGeom>
          <a:solidFill>
            <a:srgbClr val="65B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686800" y="322783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EA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Pin-drop animations</a:t>
            </a:r>
            <a:endParaRPr lang="en-US" sz="1120" dirty="0"/>
          </a:p>
        </p:txBody>
      </p:sp>
      <p:sp>
        <p:nvSpPr>
          <p:cNvPr id="55" name="Shape 53"/>
          <p:cNvSpPr/>
          <p:nvPr/>
        </p:nvSpPr>
        <p:spPr>
          <a:xfrm>
            <a:off x="8485632" y="3922776"/>
            <a:ext cx="82296" cy="82296"/>
          </a:xfrm>
          <a:prstGeom prst="ellipse">
            <a:avLst/>
          </a:prstGeom>
          <a:solidFill>
            <a:srgbClr val="65B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686800" y="382219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EA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Connector lines</a:t>
            </a:r>
            <a:endParaRPr lang="en-US" sz="1120" dirty="0"/>
          </a:p>
        </p:txBody>
      </p:sp>
      <p:sp>
        <p:nvSpPr>
          <p:cNvPr id="57" name="Shape 55"/>
          <p:cNvSpPr/>
          <p:nvPr/>
        </p:nvSpPr>
        <p:spPr>
          <a:xfrm>
            <a:off x="8485632" y="4517136"/>
            <a:ext cx="82296" cy="82296"/>
          </a:xfrm>
          <a:prstGeom prst="ellipse">
            <a:avLst/>
          </a:prstGeom>
          <a:solidFill>
            <a:srgbClr val="65B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686800" y="441655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EA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Role-based styling</a:t>
            </a:r>
            <a:endParaRPr lang="en-US" sz="1120" dirty="0"/>
          </a:p>
        </p:txBody>
      </p:sp>
      <p:sp>
        <p:nvSpPr>
          <p:cNvPr id="59" name="Shape 57"/>
          <p:cNvSpPr/>
          <p:nvPr/>
        </p:nvSpPr>
        <p:spPr>
          <a:xfrm>
            <a:off x="8485632" y="5111496"/>
            <a:ext cx="82296" cy="82296"/>
          </a:xfrm>
          <a:prstGeom prst="ellipse">
            <a:avLst/>
          </a:prstGeom>
          <a:solidFill>
            <a:srgbClr val="65B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686800" y="501091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EA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presets</a:t>
            </a:r>
            <a:endParaRPr lang="en-US" sz="1120" dirty="0"/>
          </a:p>
        </p:txBody>
      </p:sp>
      <p:sp>
        <p:nvSpPr>
          <p:cNvPr id="61" name="Text 59"/>
          <p:cNvSpPr/>
          <p:nvPr/>
        </p:nvSpPr>
        <p:spPr>
          <a:xfrm>
            <a:off x="530352" y="64465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5F6B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WHISPERER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11140135" y="64282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062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926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5214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738360" y="-1280160"/>
            <a:ext cx="3657600" cy="3657600"/>
          </a:xfrm>
          <a:prstGeom prst="arc">
            <a:avLst/>
          </a:prstGeom>
          <a:noFill/>
          <a:ln w="15240">
            <a:solidFill>
              <a:srgbClr val="C7FF1A">
                <a:alpha val="7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-1645920" y="5257800"/>
            <a:ext cx="3108960" cy="3108960"/>
          </a:xfrm>
          <a:prstGeom prst="arc">
            <a:avLst/>
          </a:prstGeom>
          <a:noFill/>
          <a:ln w="12700">
            <a:solidFill>
              <a:srgbClr val="FFE500">
                <a:alpha val="58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4747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C7FF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DESIGN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0352" y="713232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case board is the product moment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530352" y="129844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AAB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Investigation results are pinned evidence, not another text dump.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781544" y="1280160"/>
            <a:ext cx="3685032" cy="5202936"/>
          </a:xfrm>
          <a:prstGeom prst="roundRect">
            <a:avLst>
              <a:gd name="adj" fmla="val 5459"/>
            </a:avLst>
          </a:prstGeom>
          <a:solidFill>
            <a:srgbClr val="030403"/>
          </a:solidFill>
          <a:ln w="12700">
            <a:solidFill>
              <a:srgbClr val="34403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909560" y="1389888"/>
            <a:ext cx="3429000" cy="4983480"/>
          </a:xfrm>
          <a:prstGeom prst="roundRect">
            <a:avLst>
              <a:gd name="adj" fmla="val 4800"/>
            </a:avLst>
          </a:prstGeom>
          <a:solidFill>
            <a:srgbClr val="111711"/>
          </a:solidFill>
          <a:ln w="12700">
            <a:solidFill>
              <a:srgbClr val="2230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7304" y="161848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130" kern="0" dirty="0">
                <a:solidFill>
                  <a:srgbClr val="FFE500"/>
                </a:solidFill>
              </a:rPr>
              <a:t>CASE SUMMARY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8138160" y="1920240"/>
            <a:ext cx="2971800" cy="640080"/>
          </a:xfrm>
          <a:prstGeom prst="roundRect">
            <a:avLst>
              <a:gd name="adj" fmla="val 11429"/>
            </a:avLst>
          </a:prstGeom>
          <a:solidFill>
            <a:srgbClr val="182018"/>
          </a:solidFill>
          <a:ln w="12700">
            <a:solidFill>
              <a:srgbClr val="34403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2075688"/>
            <a:ext cx="2660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EAF2E7"/>
                </a:solidFill>
              </a:rPr>
              <a:t>App crashed because user_input was None before validation.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8138160" y="2807208"/>
            <a:ext cx="2971800" cy="749808"/>
          </a:xfrm>
          <a:prstGeom prst="roundRect">
            <a:avLst>
              <a:gd name="adj" fmla="val 9756"/>
            </a:avLst>
          </a:prstGeom>
          <a:solidFill>
            <a:srgbClr val="182018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02752" y="2971800"/>
            <a:ext cx="411480" cy="411480"/>
          </a:xfrm>
          <a:prstGeom prst="ellipse">
            <a:avLst/>
          </a:prstGeom>
          <a:solidFill>
            <a:srgbClr val="111711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02752" y="306324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4D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823960" y="294436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4D4D"/>
                </a:solidFill>
              </a:rPr>
              <a:t>CRIME SCENE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823960" y="32004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AAB4AA"/>
                </a:solidFill>
              </a:rPr>
              <a:t>app.py:15 - exception thrown</a:t>
            </a:r>
            <a:endParaRPr lang="en-US" sz="810" dirty="0"/>
          </a:p>
        </p:txBody>
      </p:sp>
      <p:sp>
        <p:nvSpPr>
          <p:cNvPr id="32" name="Shape 30"/>
          <p:cNvSpPr/>
          <p:nvPr/>
        </p:nvSpPr>
        <p:spPr>
          <a:xfrm>
            <a:off x="9624060" y="3557016"/>
            <a:ext cx="0" cy="384048"/>
          </a:xfrm>
          <a:prstGeom prst="line">
            <a:avLst/>
          </a:prstGeom>
          <a:noFill/>
          <a:ln w="12700">
            <a:solidFill>
              <a:srgbClr val="C7FF1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38160" y="3968496"/>
            <a:ext cx="2971800" cy="749808"/>
          </a:xfrm>
          <a:prstGeom prst="roundRect">
            <a:avLst>
              <a:gd name="adj" fmla="val 9756"/>
            </a:avLst>
          </a:prstGeom>
          <a:solidFill>
            <a:srgbClr val="111711"/>
          </a:solidFill>
          <a:ln w="12700">
            <a:solidFill>
              <a:srgbClr val="C7FF1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02752" y="4133088"/>
            <a:ext cx="411480" cy="411480"/>
          </a:xfrm>
          <a:prstGeom prst="ellipse">
            <a:avLst/>
          </a:prstGeom>
          <a:solidFill>
            <a:srgbClr val="111711"/>
          </a:solidFill>
          <a:ln w="12700">
            <a:solidFill>
              <a:srgbClr val="C7FF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02752" y="4224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7FF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823960" y="410565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7FF1A"/>
                </a:solidFill>
              </a:rPr>
              <a:t>PRIME SUSPECT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8823960" y="436168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AAB4AA"/>
                </a:solidFill>
              </a:rPr>
              <a:t>parser.py:42 - passes None</a:t>
            </a:r>
            <a:endParaRPr lang="en-US" sz="810" dirty="0"/>
          </a:p>
        </p:txBody>
      </p:sp>
      <p:sp>
        <p:nvSpPr>
          <p:cNvPr id="38" name="Shape 36"/>
          <p:cNvSpPr/>
          <p:nvPr/>
        </p:nvSpPr>
        <p:spPr>
          <a:xfrm>
            <a:off x="9624060" y="4718304"/>
            <a:ext cx="0" cy="384048"/>
          </a:xfrm>
          <a:prstGeom prst="line">
            <a:avLst/>
          </a:prstGeom>
          <a:noFill/>
          <a:ln w="12700">
            <a:solidFill>
              <a:srgbClr val="C7FF1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38160" y="5120640"/>
            <a:ext cx="2971800" cy="749808"/>
          </a:xfrm>
          <a:prstGeom prst="roundRect">
            <a:avLst>
              <a:gd name="adj" fmla="val 9756"/>
            </a:avLst>
          </a:prstGeom>
          <a:solidFill>
            <a:srgbClr val="182018"/>
          </a:solidFill>
          <a:ln w="12700">
            <a:solidFill>
              <a:srgbClr val="FFE5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302752" y="5285232"/>
            <a:ext cx="411480" cy="411480"/>
          </a:xfrm>
          <a:prstGeom prst="ellipse">
            <a:avLst/>
          </a:prstGeom>
          <a:solidFill>
            <a:srgbClr val="111711"/>
          </a:solidFill>
          <a:ln w="12700">
            <a:solidFill>
              <a:srgbClr val="FFE5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02752" y="537667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E5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823960" y="52578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E500"/>
                </a:solidFill>
              </a:rPr>
              <a:t>SUGGESTED FIX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8823960" y="55138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AAB4AA"/>
                </a:solidFill>
              </a:rPr>
              <a:t>if not data: raise ValueError()</a:t>
            </a:r>
            <a:endParaRPr lang="en-US" sz="810" dirty="0"/>
          </a:p>
        </p:txBody>
      </p:sp>
      <p:sp>
        <p:nvSpPr>
          <p:cNvPr id="44" name="Shape 42"/>
          <p:cNvSpPr/>
          <p:nvPr/>
        </p:nvSpPr>
        <p:spPr>
          <a:xfrm>
            <a:off x="530352" y="1874520"/>
            <a:ext cx="64008" cy="713232"/>
          </a:xfrm>
          <a:prstGeom prst="rect">
            <a:avLst/>
          </a:prstGeom>
          <a:solidFill>
            <a:srgbClr val="C7FF1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4672" y="1856232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1. Input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04672" y="217627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AB4AA"/>
                </a:solidFill>
              </a:rPr>
              <a:t>Repo URL, stack trace, camera capture, and demo presets.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30352" y="2953512"/>
            <a:ext cx="64008" cy="713232"/>
          </a:xfrm>
          <a:prstGeom prst="rect">
            <a:avLst/>
          </a:prstGeom>
          <a:solidFill>
            <a:srgbClr val="FFE5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04672" y="2935224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2. Loading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804672" y="3255264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AB4AA"/>
                </a:solidFill>
              </a:rPr>
              <a:t>Live investigation states: scan, read, cross-reference, analyze.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30352" y="4032504"/>
            <a:ext cx="64008" cy="713232"/>
          </a:xfrm>
          <a:prstGeom prst="rect">
            <a:avLst/>
          </a:prstGeom>
          <a:solidFill>
            <a:srgbClr val="C7FF1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04672" y="4014216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3. Case Board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804672" y="4334256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AB4AA"/>
                </a:solidFill>
              </a:rPr>
              <a:t>Evidence cards connect the thrown error to the true cause.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30352" y="64465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5F6B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WHISPERER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11140135" y="64282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062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926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5214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738360" y="-1280160"/>
            <a:ext cx="3657600" cy="3657600"/>
          </a:xfrm>
          <a:prstGeom prst="arc">
            <a:avLst/>
          </a:prstGeom>
          <a:noFill/>
          <a:ln w="15240">
            <a:solidFill>
              <a:srgbClr val="C7FF1A">
                <a:alpha val="7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-1645920" y="5257800"/>
            <a:ext cx="3108960" cy="3108960"/>
          </a:xfrm>
          <a:prstGeom prst="arc">
            <a:avLst/>
          </a:prstGeom>
          <a:noFill/>
          <a:ln w="12700">
            <a:solidFill>
              <a:srgbClr val="FFE500">
                <a:alpha val="58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4747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C7FF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0352" y="713232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small stack with a clear reasoning path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530352" y="129844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AAB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Stateless for the hackathon; structured enough to grow after it.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30352" y="1664208"/>
            <a:ext cx="11130991" cy="1417320"/>
          </a:xfrm>
          <a:prstGeom prst="roundRect">
            <a:avLst>
              <a:gd name="adj" fmla="val 5161"/>
            </a:avLst>
          </a:prstGeom>
          <a:solidFill>
            <a:srgbClr val="111711"/>
          </a:solidFill>
          <a:ln w="12700">
            <a:solidFill>
              <a:srgbClr val="C7FF1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41248" y="190195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spc="120" kern="0" dirty="0">
                <a:solidFill>
                  <a:srgbClr val="C7FF1A"/>
                </a:solidFill>
              </a:rPr>
              <a:t>FRONTEND - REACT + VITE + TAILWIND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914400" y="2267712"/>
            <a:ext cx="2148840" cy="475488"/>
          </a:xfrm>
          <a:prstGeom prst="roundRect">
            <a:avLst>
              <a:gd name="adj" fmla="val 15385"/>
            </a:avLst>
          </a:prstGeom>
          <a:solidFill>
            <a:srgbClr val="182018"/>
          </a:solidFill>
          <a:ln w="12700">
            <a:solidFill>
              <a:srgbClr val="34403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242316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AF2E7"/>
                </a:solidFill>
              </a:rPr>
              <a:t>Input Panel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566160" y="2267712"/>
            <a:ext cx="2148840" cy="475488"/>
          </a:xfrm>
          <a:prstGeom prst="roundRect">
            <a:avLst>
              <a:gd name="adj" fmla="val 15385"/>
            </a:avLst>
          </a:prstGeom>
          <a:solidFill>
            <a:srgbClr val="182018"/>
          </a:solidFill>
          <a:ln w="12700">
            <a:solidFill>
              <a:srgbClr val="34403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242316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AF2E7"/>
                </a:solidFill>
              </a:rPr>
              <a:t>Case Board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17920" y="2267712"/>
            <a:ext cx="2148840" cy="475488"/>
          </a:xfrm>
          <a:prstGeom prst="roundRect">
            <a:avLst>
              <a:gd name="adj" fmla="val 15385"/>
            </a:avLst>
          </a:prstGeom>
          <a:solidFill>
            <a:srgbClr val="182018"/>
          </a:solidFill>
          <a:ln w="12700">
            <a:solidFill>
              <a:srgbClr val="34403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242316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AF2E7"/>
                </a:solidFill>
              </a:rPr>
              <a:t>Fix Panel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869680" y="2267712"/>
            <a:ext cx="2148840" cy="475488"/>
          </a:xfrm>
          <a:prstGeom prst="roundRect">
            <a:avLst>
              <a:gd name="adj" fmla="val 15385"/>
            </a:avLst>
          </a:prstGeom>
          <a:solidFill>
            <a:srgbClr val="182018"/>
          </a:solidFill>
          <a:ln w="12700">
            <a:solidFill>
              <a:srgbClr val="34403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69680" y="242316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AF2E7"/>
                </a:solidFill>
              </a:rPr>
              <a:t>Share Button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095848" y="3081528"/>
            <a:ext cx="0" cy="603504"/>
          </a:xfrm>
          <a:prstGeom prst="line">
            <a:avLst/>
          </a:prstGeom>
          <a:noFill/>
          <a:ln w="15240">
            <a:solidFill>
              <a:srgbClr val="FFE5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65776" y="3264408"/>
            <a:ext cx="2057400" cy="292608"/>
          </a:xfrm>
          <a:prstGeom prst="roundRect">
            <a:avLst>
              <a:gd name="adj" fmla="val 21875"/>
            </a:avLst>
          </a:prstGeom>
          <a:solidFill>
            <a:srgbClr val="111711"/>
          </a:solidFill>
          <a:ln w="12700">
            <a:solidFill>
              <a:srgbClr val="FFE5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65776" y="331927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FFE5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/INVESTIGATE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30352" y="3794760"/>
            <a:ext cx="11130991" cy="1920240"/>
          </a:xfrm>
          <a:prstGeom prst="roundRect">
            <a:avLst>
              <a:gd name="adj" fmla="val 3810"/>
            </a:avLst>
          </a:prstGeom>
          <a:solidFill>
            <a:srgbClr val="111711"/>
          </a:solidFill>
          <a:ln w="12700">
            <a:solidFill>
              <a:srgbClr val="34403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41248" y="405079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spc="120" kern="0" dirty="0">
                <a:solidFill>
                  <a:srgbClr val="C7FF1A"/>
                </a:solidFill>
              </a:rPr>
              <a:t>BACKEND - FASTAPI</a:t>
            </a:r>
            <a:endParaRPr lang="en-US" sz="960" dirty="0"/>
          </a:p>
        </p:txBody>
      </p:sp>
      <p:sp>
        <p:nvSpPr>
          <p:cNvPr id="37" name="Shape 35"/>
          <p:cNvSpPr/>
          <p:nvPr/>
        </p:nvSpPr>
        <p:spPr>
          <a:xfrm>
            <a:off x="960120" y="4480560"/>
            <a:ext cx="3017520" cy="749808"/>
          </a:xfrm>
          <a:prstGeom prst="roundRect">
            <a:avLst>
              <a:gd name="adj" fmla="val 9756"/>
            </a:avLst>
          </a:prstGeom>
          <a:solidFill>
            <a:srgbClr val="182018"/>
          </a:solidFill>
          <a:ln w="12700">
            <a:solidFill>
              <a:srgbClr val="34403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24712" y="463600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Stack Parser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124712" y="4882896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AAB4AA"/>
                </a:solidFill>
              </a:rPr>
              <a:t>Python + JS trace regex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4480560"/>
            <a:ext cx="3017520" cy="749808"/>
          </a:xfrm>
          <a:prstGeom prst="roundRect">
            <a:avLst>
              <a:gd name="adj" fmla="val 9756"/>
            </a:avLst>
          </a:prstGeom>
          <a:solidFill>
            <a:srgbClr val="182018"/>
          </a:solidFill>
          <a:ln w="12700">
            <a:solidFill>
              <a:srgbClr val="34403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28032" y="463600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GitHub Fetcher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28032" y="4882896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AAB4AA"/>
                </a:solidFill>
              </a:rPr>
              <a:t>REST API file contents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366760" y="4480560"/>
            <a:ext cx="3017520" cy="749808"/>
          </a:xfrm>
          <a:prstGeom prst="roundRect">
            <a:avLst>
              <a:gd name="adj" fmla="val 9756"/>
            </a:avLst>
          </a:prstGeom>
          <a:solidFill>
            <a:srgbClr val="182018"/>
          </a:solidFill>
          <a:ln w="12700">
            <a:solidFill>
              <a:srgbClr val="C7FF1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31352" y="463600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Groq Client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531352" y="4882896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AAB4AA"/>
                </a:solidFill>
              </a:rPr>
              <a:t>Llama 3.3 70B prompt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30352" y="64465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5F6B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WHISPERER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11140135" y="64282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062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926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5214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738360" y="-1280160"/>
            <a:ext cx="3657600" cy="3657600"/>
          </a:xfrm>
          <a:prstGeom prst="arc">
            <a:avLst/>
          </a:prstGeom>
          <a:noFill/>
          <a:ln w="15240">
            <a:solidFill>
              <a:srgbClr val="C7FF1A">
                <a:alpha val="7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-1645920" y="5257800"/>
            <a:ext cx="3108960" cy="3108960"/>
          </a:xfrm>
          <a:prstGeom prst="arc">
            <a:avLst/>
          </a:prstGeom>
          <a:noFill/>
          <a:ln w="12700">
            <a:solidFill>
              <a:srgbClr val="FFE500">
                <a:alpha val="58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4747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C7FF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INTEGRATION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0352" y="713232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model is asked to investigate, not summarize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530352" y="129844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AAB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output makes the reasoning usable in UI, not trapped in prose.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30352" y="1810512"/>
            <a:ext cx="411480" cy="411480"/>
          </a:xfrm>
          <a:prstGeom prst="ellipse">
            <a:avLst/>
          </a:prstGeom>
          <a:solidFill>
            <a:srgbClr val="111711"/>
          </a:solidFill>
          <a:ln w="12700">
            <a:solidFill>
              <a:srgbClr val="C7FF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1901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7FF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24712" y="1883664"/>
            <a:ext cx="6172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AF2E7"/>
                </a:solidFill>
              </a:rPr>
              <a:t>Read the stack trace and identify the thrown error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30352" y="2340864"/>
            <a:ext cx="411480" cy="411480"/>
          </a:xfrm>
          <a:prstGeom prst="ellipse">
            <a:avLst/>
          </a:prstGeom>
          <a:solidFill>
            <a:srgbClr val="111711"/>
          </a:solidFill>
          <a:ln w="12700">
            <a:solidFill>
              <a:srgbClr val="FFE5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24323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E5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24712" y="2414016"/>
            <a:ext cx="6172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AF2E7"/>
                </a:solidFill>
              </a:rPr>
              <a:t>Examine each fetched source file around the trace lines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0352" y="2871216"/>
            <a:ext cx="411480" cy="411480"/>
          </a:xfrm>
          <a:prstGeom prst="ellipse">
            <a:avLst/>
          </a:prstGeom>
          <a:solidFill>
            <a:srgbClr val="111711"/>
          </a:solidFill>
          <a:ln w="12700">
            <a:solidFill>
              <a:srgbClr val="C7FF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296265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7FF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24712" y="2944368"/>
            <a:ext cx="6172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AF2E7"/>
                </a:solidFill>
              </a:rPr>
              <a:t>Trace what happened before the exception surfaced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30352" y="3401568"/>
            <a:ext cx="411480" cy="411480"/>
          </a:xfrm>
          <a:prstGeom prst="ellipse">
            <a:avLst/>
          </a:prstGeom>
          <a:solidFill>
            <a:srgbClr val="111711"/>
          </a:solidFill>
          <a:ln w="12700">
            <a:solidFill>
              <a:srgbClr val="FFE5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" y="349300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E5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24712" y="3474720"/>
            <a:ext cx="6172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AF2E7"/>
                </a:solidFill>
              </a:rPr>
              <a:t>Name the true root cause, even when it is elsewhere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30352" y="3931920"/>
            <a:ext cx="411480" cy="411480"/>
          </a:xfrm>
          <a:prstGeom prst="ellipse">
            <a:avLst/>
          </a:prstGeom>
          <a:solidFill>
            <a:srgbClr val="111711"/>
          </a:solidFill>
          <a:ln w="12700">
            <a:solidFill>
              <a:srgbClr val="C7FF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" y="40233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7FF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24712" y="4005072"/>
            <a:ext cx="6172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AF2E7"/>
                </a:solidFill>
              </a:rPr>
              <a:t>Classify files as crime scene, prime suspect, accomplice, or red herring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30352" y="4462272"/>
            <a:ext cx="411480" cy="411480"/>
          </a:xfrm>
          <a:prstGeom prst="ellipse">
            <a:avLst/>
          </a:prstGeom>
          <a:solidFill>
            <a:srgbClr val="111711"/>
          </a:solidFill>
          <a:ln w="12700">
            <a:solidFill>
              <a:srgbClr val="FFE5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0352" y="455371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E5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124712" y="4535424"/>
            <a:ext cx="6172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AF2E7"/>
                </a:solidFill>
              </a:rPr>
              <a:t>Return a concrete fix and confidence rating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360920" y="1755648"/>
            <a:ext cx="4251960" cy="4251960"/>
          </a:xfrm>
          <a:prstGeom prst="roundRect">
            <a:avLst>
              <a:gd name="adj" fmla="val 1720"/>
            </a:avLst>
          </a:prstGeom>
          <a:solidFill>
            <a:srgbClr val="182018"/>
          </a:solidFill>
          <a:ln w="12700">
            <a:solidFill>
              <a:srgbClr val="C7FF1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662672" y="204825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FE500"/>
                </a:solidFill>
              </a:rPr>
              <a:t>TECH STACK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680960" y="261518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Frontend</a:t>
            </a:r>
            <a:endParaRPr lang="en-US" sz="1020" dirty="0"/>
          </a:p>
        </p:txBody>
      </p:sp>
      <p:sp>
        <p:nvSpPr>
          <p:cNvPr id="43" name="Text 41"/>
          <p:cNvSpPr/>
          <p:nvPr/>
        </p:nvSpPr>
        <p:spPr>
          <a:xfrm>
            <a:off x="8915400" y="2615184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AB4AA"/>
                </a:solidFill>
              </a:rPr>
              <a:t>React, Vite, Tailwind CSS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680960" y="318211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Backend</a:t>
            </a:r>
            <a:endParaRPr lang="en-US" sz="1020" dirty="0"/>
          </a:p>
        </p:txBody>
      </p:sp>
      <p:sp>
        <p:nvSpPr>
          <p:cNvPr id="45" name="Text 43"/>
          <p:cNvSpPr/>
          <p:nvPr/>
        </p:nvSpPr>
        <p:spPr>
          <a:xfrm>
            <a:off x="8915400" y="318211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AB4AA"/>
                </a:solidFill>
              </a:rPr>
              <a:t>FastAPI, async Python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680960" y="374904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LLM</a:t>
            </a:r>
            <a:endParaRPr lang="en-US" sz="1020" dirty="0"/>
          </a:p>
        </p:txBody>
      </p:sp>
      <p:sp>
        <p:nvSpPr>
          <p:cNvPr id="47" name="Text 45"/>
          <p:cNvSpPr/>
          <p:nvPr/>
        </p:nvSpPr>
        <p:spPr>
          <a:xfrm>
            <a:off x="8915400" y="374904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AB4AA"/>
                </a:solidFill>
              </a:rPr>
              <a:t>Groq llama-3.3-70b-versatile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680960" y="431596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Repo Data</a:t>
            </a:r>
            <a:endParaRPr lang="en-US" sz="1020" dirty="0"/>
          </a:p>
        </p:txBody>
      </p:sp>
      <p:sp>
        <p:nvSpPr>
          <p:cNvPr id="49" name="Text 47"/>
          <p:cNvSpPr/>
          <p:nvPr/>
        </p:nvSpPr>
        <p:spPr>
          <a:xfrm>
            <a:off x="8915400" y="431596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AB4AA"/>
                </a:solidFill>
              </a:rPr>
              <a:t>GitHub REST API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680960" y="488289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Hosting</a:t>
            </a:r>
            <a:endParaRPr lang="en-US" sz="1020" dirty="0"/>
          </a:p>
        </p:txBody>
      </p:sp>
      <p:sp>
        <p:nvSpPr>
          <p:cNvPr id="51" name="Text 49"/>
          <p:cNvSpPr/>
          <p:nvPr/>
        </p:nvSpPr>
        <p:spPr>
          <a:xfrm>
            <a:off x="8915400" y="4882896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AB4AA"/>
                </a:solidFill>
              </a:rPr>
              <a:t>Vercel + Render free tiers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30352" y="64465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5F6B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WHISPERER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11140135" y="64282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062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926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5214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738360" y="-1280160"/>
            <a:ext cx="3657600" cy="3657600"/>
          </a:xfrm>
          <a:prstGeom prst="arc">
            <a:avLst/>
          </a:prstGeom>
          <a:noFill/>
          <a:ln w="15240">
            <a:solidFill>
              <a:srgbClr val="C7FF1A">
                <a:alpha val="7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-1645920" y="5257800"/>
            <a:ext cx="3108960" cy="3108960"/>
          </a:xfrm>
          <a:prstGeom prst="arc">
            <a:avLst/>
          </a:prstGeom>
          <a:noFill/>
          <a:ln w="12700">
            <a:solidFill>
              <a:srgbClr val="FFE500">
                <a:alpha val="58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4747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C7FF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HACKATHON FIT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0352" y="713232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Built for a phone-first city battle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530352" y="129844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AAB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deck uses the iQOO event framing: build locally, compete nationally, and demo under pressure.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30352" y="1755648"/>
            <a:ext cx="3456432" cy="1508760"/>
          </a:xfrm>
          <a:prstGeom prst="roundRect">
            <a:avLst>
              <a:gd name="adj" fmla="val 4848"/>
            </a:avLst>
          </a:prstGeom>
          <a:solidFill>
            <a:srgbClr val="111711"/>
          </a:solidFill>
          <a:ln w="12700">
            <a:solidFill>
              <a:srgbClr val="C7FF1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58952" y="199339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FF1A"/>
                </a:solidFill>
              </a:rPr>
              <a:t>PHONE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609344" y="201168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Phone-first build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609344" y="23774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AB4AA"/>
                </a:solidFill>
              </a:rPr>
              <a:t>Camera input, PWA install, haptics, and native sharing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4279392" y="1755648"/>
            <a:ext cx="3456432" cy="1508760"/>
          </a:xfrm>
          <a:prstGeom prst="roundRect">
            <a:avLst>
              <a:gd name="adj" fmla="val 4848"/>
            </a:avLst>
          </a:prstGeom>
          <a:solidFill>
            <a:srgbClr val="182018"/>
          </a:solidFill>
          <a:ln w="12700">
            <a:solidFill>
              <a:srgbClr val="C7FF1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07992" y="199339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FF1A"/>
                </a:solidFill>
              </a:rPr>
              <a:t>30H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358384" y="201168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30-hour battle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358384" y="23774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AB4AA"/>
                </a:solidFill>
              </a:rPr>
              <a:t>Focused prototype scope for the Pune City Battle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8028432" y="1755648"/>
            <a:ext cx="3456432" cy="1508760"/>
          </a:xfrm>
          <a:prstGeom prst="roundRect">
            <a:avLst>
              <a:gd name="adj" fmla="val 4848"/>
            </a:avLst>
          </a:prstGeom>
          <a:solidFill>
            <a:srgbClr val="111711"/>
          </a:solidFill>
          <a:ln w="12700">
            <a:solidFill>
              <a:srgbClr val="FFE50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257032" y="199339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E500"/>
                </a:solidFill>
              </a:rPr>
              <a:t>PUNE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9107424" y="201168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City round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107424" y="23774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AB4AA"/>
                </a:solidFill>
              </a:rPr>
              <a:t>Designed around a clear live demo for local judges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530352" y="3721608"/>
            <a:ext cx="3456432" cy="1508760"/>
          </a:xfrm>
          <a:prstGeom prst="roundRect">
            <a:avLst>
              <a:gd name="adj" fmla="val 4848"/>
            </a:avLst>
          </a:prstGeom>
          <a:solidFill>
            <a:srgbClr val="182018"/>
          </a:solidFill>
          <a:ln w="12700">
            <a:solidFill>
              <a:srgbClr val="C7FF1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58952" y="39593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FF1A"/>
                </a:solidFill>
              </a:rPr>
              <a:t>AI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1609344" y="397764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AI depth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609344" y="434340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AB4AA"/>
                </a:solidFill>
              </a:rPr>
              <a:t>Parser, GitHub fetcher, and Groq reasoning chain</a:t>
            </a:r>
            <a:endParaRPr lang="en-US" sz="940" dirty="0"/>
          </a:p>
        </p:txBody>
      </p:sp>
      <p:sp>
        <p:nvSpPr>
          <p:cNvPr id="38" name="Shape 36"/>
          <p:cNvSpPr/>
          <p:nvPr/>
        </p:nvSpPr>
        <p:spPr>
          <a:xfrm>
            <a:off x="4279392" y="3721608"/>
            <a:ext cx="3456432" cy="1508760"/>
          </a:xfrm>
          <a:prstGeom prst="roundRect">
            <a:avLst>
              <a:gd name="adj" fmla="val 4848"/>
            </a:avLst>
          </a:prstGeom>
          <a:solidFill>
            <a:srgbClr val="111711"/>
          </a:solidFill>
          <a:ln w="12700">
            <a:solidFill>
              <a:srgbClr val="FFE50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507992" y="39593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E500"/>
                </a:solidFill>
              </a:rPr>
              <a:t>EDGE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5358384" y="397764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Build your edge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358384" y="434340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AB4AA"/>
                </a:solidFill>
              </a:rPr>
              <a:t>Developer tool that turns panic debugging into investigation</a:t>
            </a:r>
            <a:endParaRPr lang="en-US" sz="940" dirty="0"/>
          </a:p>
        </p:txBody>
      </p:sp>
      <p:sp>
        <p:nvSpPr>
          <p:cNvPr id="42" name="Shape 40"/>
          <p:cNvSpPr/>
          <p:nvPr/>
        </p:nvSpPr>
        <p:spPr>
          <a:xfrm>
            <a:off x="8028432" y="3721608"/>
            <a:ext cx="3456432" cy="1508760"/>
          </a:xfrm>
          <a:prstGeom prst="roundRect">
            <a:avLst>
              <a:gd name="adj" fmla="val 4848"/>
            </a:avLst>
          </a:prstGeom>
          <a:solidFill>
            <a:srgbClr val="182018"/>
          </a:solidFill>
          <a:ln w="12700">
            <a:solidFill>
              <a:srgbClr val="C7FF1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8257032" y="39593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FF1A"/>
                </a:solidFill>
              </a:rPr>
              <a:t>DEMO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9107424" y="397764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Pitch-ready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9107424" y="434340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AB4AA"/>
                </a:solidFill>
              </a:rPr>
              <a:t>3-minute story with one visible root-cause reveal</a:t>
            </a:r>
            <a:endParaRPr lang="en-US" sz="940" dirty="0"/>
          </a:p>
        </p:txBody>
      </p:sp>
      <p:sp>
        <p:nvSpPr>
          <p:cNvPr id="46" name="Text 44"/>
          <p:cNvSpPr/>
          <p:nvPr/>
        </p:nvSpPr>
        <p:spPr>
          <a:xfrm>
            <a:off x="530352" y="64465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5F6B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WHISPERER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11140135" y="64282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062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926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5214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738360" y="-1280160"/>
            <a:ext cx="3657600" cy="3657600"/>
          </a:xfrm>
          <a:prstGeom prst="arc">
            <a:avLst/>
          </a:prstGeom>
          <a:noFill/>
          <a:ln w="15240">
            <a:solidFill>
              <a:srgbClr val="C7FF1A">
                <a:alpha val="7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-1645920" y="5257800"/>
            <a:ext cx="3108960" cy="3108960"/>
          </a:xfrm>
          <a:prstGeom prst="arc">
            <a:avLst/>
          </a:prstGeom>
          <a:noFill/>
          <a:ln w="12700">
            <a:solidFill>
              <a:srgbClr val="FFE500">
                <a:alpha val="58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4747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C7FF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REAL-WORLD UTILITY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0352" y="713232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Who gets unstuck first?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530352" y="129844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AAB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workflow helps learners, senior engineers, maintainers, and SREs.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30352" y="1737360"/>
            <a:ext cx="2029968" cy="1874520"/>
          </a:xfrm>
          <a:prstGeom prst="roundRect">
            <a:avLst>
              <a:gd name="adj" fmla="val 3902"/>
            </a:avLst>
          </a:prstGeom>
          <a:solidFill>
            <a:srgbClr val="182018"/>
          </a:solidFill>
          <a:ln w="12700">
            <a:solidFill>
              <a:srgbClr val="FFE50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94944" y="2066544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Junior devs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3232" y="2633472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AAB4AA"/>
                </a:solidFill>
              </a:rPr>
              <a:t>Understand complex crashes without waiting for senior help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2788920" y="1737360"/>
            <a:ext cx="2029968" cy="1874520"/>
          </a:xfrm>
          <a:prstGeom prst="roundRect">
            <a:avLst>
              <a:gd name="adj" fmla="val 3902"/>
            </a:avLst>
          </a:prstGeom>
          <a:solidFill>
            <a:srgbClr val="182018"/>
          </a:solidFill>
          <a:ln w="12700">
            <a:solidFill>
              <a:srgbClr val="34403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953512" y="2066544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Senior engineers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971800" y="2633472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AAB4AA"/>
                </a:solidFill>
              </a:rPr>
              <a:t>Skip repetitive triage and focus on design-level fixes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5047488" y="1737360"/>
            <a:ext cx="2029968" cy="1874520"/>
          </a:xfrm>
          <a:prstGeom prst="roundRect">
            <a:avLst>
              <a:gd name="adj" fmla="val 3902"/>
            </a:avLst>
          </a:prstGeom>
          <a:solidFill>
            <a:srgbClr val="182018"/>
          </a:solidFill>
          <a:ln w="12700">
            <a:solidFill>
              <a:srgbClr val="34403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212080" y="2066544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OSS maintainers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30368" y="2633472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AAB4AA"/>
                </a:solidFill>
              </a:rPr>
              <a:t>Turn issue stack traces into actionable root-cause notes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7306056" y="1737360"/>
            <a:ext cx="2029968" cy="1874520"/>
          </a:xfrm>
          <a:prstGeom prst="roundRect">
            <a:avLst>
              <a:gd name="adj" fmla="val 3902"/>
            </a:avLst>
          </a:prstGeom>
          <a:solidFill>
            <a:srgbClr val="182018"/>
          </a:solidFill>
          <a:ln w="12700">
            <a:solidFill>
              <a:srgbClr val="34403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470648" y="2066544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Hackathon teams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488936" y="2633472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AAB4AA"/>
                </a:solidFill>
              </a:rPr>
              <a:t>Recover faster under a 30-hour build clock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9564624" y="1737360"/>
            <a:ext cx="2029968" cy="1874520"/>
          </a:xfrm>
          <a:prstGeom prst="roundRect">
            <a:avLst>
              <a:gd name="adj" fmla="val 3902"/>
            </a:avLst>
          </a:prstGeom>
          <a:solidFill>
            <a:srgbClr val="182018"/>
          </a:solidFill>
          <a:ln w="12700">
            <a:solidFill>
              <a:srgbClr val="34403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729216" y="2066544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DevOps / SRE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747504" y="2633472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AAB4AA"/>
                </a:solidFill>
              </a:rPr>
              <a:t>Rapid first-pass root-cause analysis for production incidents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530352" y="40690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11711"/>
          </a:solidFill>
          <a:ln w="12700">
            <a:solidFill>
              <a:srgbClr val="87928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309360" y="40690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11711"/>
          </a:solidFill>
          <a:ln w="12700">
            <a:solidFill>
              <a:srgbClr val="C7FF1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868680" y="433425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879287"/>
                </a:solidFill>
              </a:rPr>
              <a:t>BEFORE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68680" y="4645152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AB4AA"/>
                </a:solidFill>
              </a:rPr>
              <a:t>AttributeError: 'NoneType' object has no attribute 'strip'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AB4AA"/>
                </a:solidFill>
              </a:rPr>
              <a:t>2 hours reading 5 files; fix is a 3-line validation check.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629400" y="433425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C7FF1A"/>
                </a:solidFill>
              </a:rPr>
              <a:t>AFTER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629400" y="464515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AF2E7"/>
                </a:solidFill>
              </a:rPr>
              <a:t>Paste trace + repo URL. Root cause highlighted as Prime Suspect. Copy the fix in seconds.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629400" y="5102352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FF1A"/>
                </a:solidFill>
              </a:rPr>
              <a:t>Time saved: 1 hr 50 min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530352" y="64465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5F6B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WHISPERER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1140135" y="64282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062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926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5214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738360" y="-1280160"/>
            <a:ext cx="3657600" cy="3657600"/>
          </a:xfrm>
          <a:prstGeom prst="arc">
            <a:avLst/>
          </a:prstGeom>
          <a:noFill/>
          <a:ln w="15240">
            <a:solidFill>
              <a:srgbClr val="C7FF1A">
                <a:alpha val="7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-1645920" y="5257800"/>
            <a:ext cx="3108960" cy="3108960"/>
          </a:xfrm>
          <a:prstGeom prst="arc">
            <a:avLst/>
          </a:prstGeom>
          <a:noFill/>
          <a:ln w="12700">
            <a:solidFill>
              <a:srgbClr val="FFE500">
                <a:alpha val="58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4747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C7FF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STORY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0352" y="713232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3-minute pitch judges can follow cold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530352" y="129844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AAB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with pain, show one crash, then let the case board do the persuasion.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30352" y="173736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E500"/>
                </a:solidFill>
              </a:rPr>
              <a:t>00:00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115568" y="1828800"/>
            <a:ext cx="502920" cy="0"/>
          </a:xfrm>
          <a:prstGeom prst="line">
            <a:avLst/>
          </a:prstGeom>
          <a:noFill/>
          <a:ln w="12700">
            <a:solidFill>
              <a:srgbClr val="C7FF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83080" y="17099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Hook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0" y="1709928"/>
            <a:ext cx="6812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AB4AA"/>
                </a:solidFill>
              </a:rPr>
              <a:t>A stack trace tells you where code died, not why.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" y="253288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E500"/>
                </a:solidFill>
              </a:rPr>
              <a:t>00:30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115568" y="2624328"/>
            <a:ext cx="502920" cy="0"/>
          </a:xfrm>
          <a:prstGeom prst="line">
            <a:avLst/>
          </a:prstGeom>
          <a:noFill/>
          <a:ln w="12700">
            <a:solidFill>
              <a:srgbClr val="C7FF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83080" y="25054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Live Input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0" y="2505456"/>
            <a:ext cx="6812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AB4AA"/>
                </a:solidFill>
              </a:rPr>
              <a:t>Paste repo URL + Python or JavaScript stack trace.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0352" y="332841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E500"/>
                </a:solidFill>
              </a:rPr>
              <a:t>01:15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115568" y="3419856"/>
            <a:ext cx="502920" cy="0"/>
          </a:xfrm>
          <a:prstGeom prst="line">
            <a:avLst/>
          </a:prstGeom>
          <a:noFill/>
          <a:ln w="12700">
            <a:solidFill>
              <a:srgbClr val="C7FF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783080" y="33009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Investigation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57600" y="3300984"/>
            <a:ext cx="6812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AB4AA"/>
                </a:solidFill>
              </a:rPr>
              <a:t>Parser extracts frames; GitHub fetches source; Groq analyzes.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0352" y="412394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E500"/>
                </a:solidFill>
              </a:rPr>
              <a:t>02:00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115568" y="4215384"/>
            <a:ext cx="502920" cy="0"/>
          </a:xfrm>
          <a:prstGeom prst="line">
            <a:avLst/>
          </a:prstGeom>
          <a:noFill/>
          <a:ln w="12700">
            <a:solidFill>
              <a:srgbClr val="C7FF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783080" y="40965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Reveal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657600" y="4096512"/>
            <a:ext cx="6812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AB4AA"/>
                </a:solidFill>
              </a:rPr>
              <a:t>Case board marks crime scene and prime suspect.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0352" y="491947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E500"/>
                </a:solidFill>
              </a:rPr>
              <a:t>02:45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115568" y="5010912"/>
            <a:ext cx="502920" cy="0"/>
          </a:xfrm>
          <a:prstGeom prst="line">
            <a:avLst/>
          </a:prstGeom>
          <a:noFill/>
          <a:ln w="12700">
            <a:solidFill>
              <a:srgbClr val="C7FF1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783080" y="48920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Close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657600" y="4892040"/>
            <a:ext cx="6812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AB4AA"/>
                </a:solidFill>
              </a:rPr>
              <a:t>Copy fix, share case, mention phone-first value.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543800" y="4983480"/>
            <a:ext cx="3749040" cy="868680"/>
          </a:xfrm>
          <a:prstGeom prst="roundRect">
            <a:avLst>
              <a:gd name="adj" fmla="val 8421"/>
            </a:avLst>
          </a:prstGeom>
          <a:solidFill>
            <a:srgbClr val="182018"/>
          </a:solidFill>
          <a:ln w="12700">
            <a:solidFill>
              <a:srgbClr val="C7FF1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818120" y="523036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7FF1A"/>
                </a:solidFill>
              </a:rPr>
              <a:t>Judge takeaway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308592" y="523036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EAF2E7"/>
                </a:solidFill>
              </a:rPr>
              <a:t>Useful, original, phone-first, and technically credible.</a:t>
            </a:r>
            <a:endParaRPr lang="en-US" sz="980" dirty="0"/>
          </a:p>
        </p:txBody>
      </p:sp>
      <p:sp>
        <p:nvSpPr>
          <p:cNvPr id="45" name="Text 43"/>
          <p:cNvSpPr/>
          <p:nvPr/>
        </p:nvSpPr>
        <p:spPr>
          <a:xfrm>
            <a:off x="530352" y="64465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5F6B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WHISPERER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11140135" y="64282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062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926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521440" y="0"/>
            <a:ext cx="2377440" cy="6858000"/>
          </a:xfrm>
          <a:prstGeom prst="line">
            <a:avLst/>
          </a:prstGeom>
          <a:noFill/>
          <a:ln w="6350">
            <a:solidFill>
              <a:srgbClr val="172017">
                <a:alpha val="7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738360" y="-1280160"/>
            <a:ext cx="3657600" cy="3657600"/>
          </a:xfrm>
          <a:prstGeom prst="arc">
            <a:avLst/>
          </a:prstGeom>
          <a:noFill/>
          <a:ln w="15240">
            <a:solidFill>
              <a:srgbClr val="C7FF1A">
                <a:alpha val="7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-1645920" y="5257800"/>
            <a:ext cx="3108960" cy="3108960"/>
          </a:xfrm>
          <a:prstGeom prst="arc">
            <a:avLst/>
          </a:prstGeom>
          <a:noFill/>
          <a:ln w="12700">
            <a:solidFill>
              <a:srgbClr val="FFE500">
                <a:alpha val="58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4747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C7FF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 AND ASK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0352" y="713232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we bring next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530352" y="129844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AAB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hackathon prototype is intentionally scoped, with a clear path to a team product.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30352" y="1719072"/>
            <a:ext cx="3493008" cy="1554480"/>
          </a:xfrm>
          <a:prstGeom prst="roundRect">
            <a:avLst>
              <a:gd name="adj" fmla="val 4706"/>
            </a:avLst>
          </a:prstGeom>
          <a:solidFill>
            <a:srgbClr val="111711"/>
          </a:solidFill>
          <a:ln w="12700">
            <a:solidFill>
              <a:srgbClr val="C7FF1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86384" y="202996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FF1A"/>
                </a:solidFill>
              </a:rPr>
              <a:t>Phase 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86384" y="2542032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AB4AA"/>
                </a:solidFill>
              </a:rPr>
              <a:t>GitHub OAuth, import graph traversal, investigation history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43400" y="1719072"/>
            <a:ext cx="3493008" cy="1554480"/>
          </a:xfrm>
          <a:prstGeom prst="roundRect">
            <a:avLst>
              <a:gd name="adj" fmla="val 4706"/>
            </a:avLst>
          </a:prstGeom>
          <a:solidFill>
            <a:srgbClr val="182018"/>
          </a:solidFill>
          <a:ln w="12700">
            <a:solidFill>
              <a:srgbClr val="34403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99432" y="202996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E500"/>
                </a:solidFill>
              </a:rPr>
              <a:t>Phase 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99432" y="2542032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AB4AA"/>
                </a:solidFill>
              </a:rPr>
              <a:t>VS Code extension, Slack/Discord bot, team REST API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156448" y="1719072"/>
            <a:ext cx="3493008" cy="1554480"/>
          </a:xfrm>
          <a:prstGeom prst="roundRect">
            <a:avLst>
              <a:gd name="adj" fmla="val 4706"/>
            </a:avLst>
          </a:prstGeom>
          <a:solidFill>
            <a:srgbClr val="182018"/>
          </a:solidFill>
          <a:ln w="12700">
            <a:solidFill>
              <a:srgbClr val="34403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412480" y="202996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E500"/>
                </a:solidFill>
              </a:rPr>
              <a:t>Phase 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412480" y="2542032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AB4AA"/>
                </a:solidFill>
              </a:rPr>
              <a:t>Pattern detection, Jira/Linear integration, on-prem option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30352" y="3986784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11711"/>
          </a:solidFill>
          <a:ln w="12700">
            <a:solidFill>
              <a:srgbClr val="FFE50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09360" y="3986784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11711"/>
          </a:solidFill>
          <a:ln w="12700">
            <a:solidFill>
              <a:srgbClr val="C7FF1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68680" y="427939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FFE500"/>
                </a:solidFill>
              </a:rPr>
              <a:t>WHAT WE NEED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68680" y="46634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AAB4AA"/>
                </a:solidFill>
              </a:rPr>
              <a:t>Shortlisting for Pune, iQOO 15 loaner device access, mentor feedback on AI analysis quality.</a:t>
            </a:r>
            <a:endParaRPr lang="en-US" sz="1020" dirty="0"/>
          </a:p>
        </p:txBody>
      </p:sp>
      <p:sp>
        <p:nvSpPr>
          <p:cNvPr id="35" name="Text 33"/>
          <p:cNvSpPr/>
          <p:nvPr/>
        </p:nvSpPr>
        <p:spPr>
          <a:xfrm>
            <a:off x="6629400" y="427939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C7FF1A"/>
                </a:solidFill>
              </a:rPr>
              <a:t>WHAT WE BRING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629400" y="46634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EAF2E7"/>
                </a:solidFill>
              </a:rPr>
              <a:t>Working prototype, distinctive case-board UI, real multi-file AI pipeline, and a phone-first demo.</a:t>
            </a:r>
            <a:endParaRPr lang="en-US" sz="1020" dirty="0"/>
          </a:p>
        </p:txBody>
      </p:sp>
      <p:sp>
        <p:nvSpPr>
          <p:cNvPr id="37" name="Text 35"/>
          <p:cNvSpPr/>
          <p:nvPr/>
        </p:nvSpPr>
        <p:spPr>
          <a:xfrm>
            <a:off x="530352" y="64465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5F6B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WHISPERER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1140135" y="64282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iQOO Hackathon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Bug Whisperer - AI Debugging Detective</dc:title>
  <dc:subject>Bug Whisperer pitch deck</dc:subject>
  <dc:creator>Bug Whisperer</dc:creator>
  <cp:lastModifiedBy>Bug Whisperer</cp:lastModifiedBy>
  <cp:revision>1</cp:revision>
  <dcterms:created xsi:type="dcterms:W3CDTF">2026-08-31T14:45:33Z</dcterms:created>
  <dcterms:modified xsi:type="dcterms:W3CDTF">2026-08-31T14:45:33Z</dcterms:modified>
</cp:coreProperties>
</file>